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6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F4C14-0FFA-4CFB-9C7C-B0FBDB1DBA46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565663-88EC-4493-AE47-CEEE1D039B15}">
      <dgm:prSet/>
      <dgm:spPr/>
      <dgm:t>
        <a:bodyPr/>
        <a:lstStyle/>
        <a:p>
          <a:r>
            <a:rPr lang="de-DE" dirty="0"/>
            <a:t>Konkretes </a:t>
          </a:r>
          <a:r>
            <a:rPr lang="de-DE" b="1" dirty="0"/>
            <a:t>White-Box-Testentwurfsverfahren</a:t>
          </a:r>
          <a:endParaRPr lang="en-US" dirty="0"/>
        </a:p>
      </dgm:t>
    </dgm:pt>
    <dgm:pt modelId="{F77ECF74-64BD-468A-96AF-FCC46863696D}" type="parTrans" cxnId="{B539ACC3-0905-477E-AF4A-E1F8334FD0B7}">
      <dgm:prSet/>
      <dgm:spPr/>
      <dgm:t>
        <a:bodyPr/>
        <a:lstStyle/>
        <a:p>
          <a:endParaRPr lang="en-US"/>
        </a:p>
      </dgm:t>
    </dgm:pt>
    <dgm:pt modelId="{4A63EB2F-1578-41D9-BC8E-907E936DADF1}" type="sibTrans" cxnId="{B539ACC3-0905-477E-AF4A-E1F8334FD0B7}">
      <dgm:prSet/>
      <dgm:spPr/>
      <dgm:t>
        <a:bodyPr/>
        <a:lstStyle/>
        <a:p>
          <a:endParaRPr lang="en-US"/>
        </a:p>
      </dgm:t>
    </dgm:pt>
    <dgm:pt modelId="{5ED70F8F-38D5-4BFE-88A9-BC109BA86BFF}">
      <dgm:prSet/>
      <dgm:spPr/>
      <dgm:t>
        <a:bodyPr/>
        <a:lstStyle/>
        <a:p>
          <a:r>
            <a:rPr lang="de-DE" b="1"/>
            <a:t>White-Box</a:t>
          </a:r>
          <a:r>
            <a:rPr lang="de-DE"/>
            <a:t> = die Box (das System) ist „durchsichtig“</a:t>
          </a:r>
          <a:endParaRPr lang="en-US"/>
        </a:p>
      </dgm:t>
    </dgm:pt>
    <dgm:pt modelId="{5228CAFF-F594-4A52-BC5C-205308681C69}" type="parTrans" cxnId="{A013A87D-EC20-4704-99AF-E512C8C79C52}">
      <dgm:prSet/>
      <dgm:spPr/>
      <dgm:t>
        <a:bodyPr/>
        <a:lstStyle/>
        <a:p>
          <a:endParaRPr lang="en-US"/>
        </a:p>
      </dgm:t>
    </dgm:pt>
    <dgm:pt modelId="{E0D7F383-45E1-4DE4-B5F9-4C2D33371BBE}" type="sibTrans" cxnId="{A013A87D-EC20-4704-99AF-E512C8C79C52}">
      <dgm:prSet/>
      <dgm:spPr/>
      <dgm:t>
        <a:bodyPr/>
        <a:lstStyle/>
        <a:p>
          <a:endParaRPr lang="en-US"/>
        </a:p>
      </dgm:t>
    </dgm:pt>
    <dgm:pt modelId="{A7CFDDFA-2E5D-49E7-98B3-A995A1D1BA7B}">
      <dgm:prSet/>
      <dgm:spPr/>
      <dgm:t>
        <a:bodyPr/>
        <a:lstStyle/>
        <a:p>
          <a:r>
            <a:rPr lang="de-DE" b="1"/>
            <a:t>White-Box-Testing</a:t>
          </a:r>
          <a:r>
            <a:rPr lang="de-DE"/>
            <a:t>: Tests anhand des Quellcodes, Struktur bzw. Programmlogik</a:t>
          </a:r>
          <a:endParaRPr lang="en-US"/>
        </a:p>
      </dgm:t>
    </dgm:pt>
    <dgm:pt modelId="{181A2B71-5122-41D7-BAEF-162462C4128F}" type="parTrans" cxnId="{69410684-7672-4AB8-A8AE-340BCDA71F12}">
      <dgm:prSet/>
      <dgm:spPr/>
      <dgm:t>
        <a:bodyPr/>
        <a:lstStyle/>
        <a:p>
          <a:endParaRPr lang="en-US"/>
        </a:p>
      </dgm:t>
    </dgm:pt>
    <dgm:pt modelId="{600E9CF2-12C3-45FB-A602-6EBF9AF69592}" type="sibTrans" cxnId="{69410684-7672-4AB8-A8AE-340BCDA71F12}">
      <dgm:prSet/>
      <dgm:spPr/>
      <dgm:t>
        <a:bodyPr/>
        <a:lstStyle/>
        <a:p>
          <a:endParaRPr lang="en-US"/>
        </a:p>
      </dgm:t>
    </dgm:pt>
    <dgm:pt modelId="{9E951662-E36B-4ADD-953E-DE2F4995D1C5}">
      <dgm:prSet/>
      <dgm:spPr/>
      <dgm:t>
        <a:bodyPr/>
        <a:lstStyle/>
        <a:p>
          <a:r>
            <a:rPr lang="de-DE"/>
            <a:t>Beispiel: Ich schaue in den Code und leite daraus Testfälle ab, z. B. mit dem Ziel:</a:t>
          </a:r>
          <a:endParaRPr lang="en-US"/>
        </a:p>
      </dgm:t>
    </dgm:pt>
    <dgm:pt modelId="{C1B2E73D-8910-4D60-906E-8DF71B4A433C}" type="parTrans" cxnId="{B773D0A3-086B-4482-B804-2AF2BD7156B7}">
      <dgm:prSet/>
      <dgm:spPr/>
      <dgm:t>
        <a:bodyPr/>
        <a:lstStyle/>
        <a:p>
          <a:endParaRPr lang="en-US"/>
        </a:p>
      </dgm:t>
    </dgm:pt>
    <dgm:pt modelId="{5CEC38D1-4BB3-49C9-9029-415730EB452F}" type="sibTrans" cxnId="{B773D0A3-086B-4482-B804-2AF2BD7156B7}">
      <dgm:prSet/>
      <dgm:spPr/>
      <dgm:t>
        <a:bodyPr/>
        <a:lstStyle/>
        <a:p>
          <a:endParaRPr lang="en-US"/>
        </a:p>
      </dgm:t>
    </dgm:pt>
    <dgm:pt modelId="{CBCD8C14-3929-464F-BF6D-EFD81441B668}">
      <dgm:prSet/>
      <dgm:spPr/>
      <dgm:t>
        <a:bodyPr/>
        <a:lstStyle/>
        <a:p>
          <a:r>
            <a:rPr lang="de-DE"/>
            <a:t>alle Anweisungen ausführen</a:t>
          </a:r>
          <a:endParaRPr lang="en-US"/>
        </a:p>
      </dgm:t>
    </dgm:pt>
    <dgm:pt modelId="{D7F4CBC2-DD34-43FB-9500-276B8AFD53AC}" type="parTrans" cxnId="{E45C4B04-A8FB-44D4-A882-BC353F995587}">
      <dgm:prSet/>
      <dgm:spPr/>
      <dgm:t>
        <a:bodyPr/>
        <a:lstStyle/>
        <a:p>
          <a:endParaRPr lang="en-US"/>
        </a:p>
      </dgm:t>
    </dgm:pt>
    <dgm:pt modelId="{31863D98-3B02-426D-AD75-A487309C7E22}" type="sibTrans" cxnId="{E45C4B04-A8FB-44D4-A882-BC353F995587}">
      <dgm:prSet/>
      <dgm:spPr/>
      <dgm:t>
        <a:bodyPr/>
        <a:lstStyle/>
        <a:p>
          <a:endParaRPr lang="en-US"/>
        </a:p>
      </dgm:t>
    </dgm:pt>
    <dgm:pt modelId="{C75E720F-120D-44FB-88C9-04F47AB9D032}">
      <dgm:prSet/>
      <dgm:spPr/>
      <dgm:t>
        <a:bodyPr/>
        <a:lstStyle/>
        <a:p>
          <a:r>
            <a:rPr lang="de-DE" b="1" dirty="0"/>
            <a:t>Was ist Anweisungsüberdeckung?</a:t>
          </a:r>
          <a:endParaRPr lang="en-US" dirty="0"/>
        </a:p>
      </dgm:t>
    </dgm:pt>
    <dgm:pt modelId="{3080F7E0-88E6-4B2E-B400-F7645A6D01C1}" type="parTrans" cxnId="{F247C86D-08EB-498E-B596-6BC3B70F630A}">
      <dgm:prSet/>
      <dgm:spPr/>
      <dgm:t>
        <a:bodyPr/>
        <a:lstStyle/>
        <a:p>
          <a:endParaRPr lang="en-US"/>
        </a:p>
      </dgm:t>
    </dgm:pt>
    <dgm:pt modelId="{7F83C3B9-5E04-4D6A-B0E1-590496C89138}" type="sibTrans" cxnId="{F247C86D-08EB-498E-B596-6BC3B70F630A}">
      <dgm:prSet/>
      <dgm:spPr/>
      <dgm:t>
        <a:bodyPr/>
        <a:lstStyle/>
        <a:p>
          <a:endParaRPr lang="en-US"/>
        </a:p>
      </dgm:t>
    </dgm:pt>
    <dgm:pt modelId="{FC177072-6B8E-4990-B5BD-1A1B6415831D}">
      <dgm:prSet/>
      <dgm:spPr>
        <a:ln>
          <a:solidFill>
            <a:srgbClr val="CFD6CF"/>
          </a:solidFill>
        </a:ln>
      </dgm:spPr>
      <dgm:t>
        <a:bodyPr/>
        <a:lstStyle/>
        <a:p>
          <a:r>
            <a:rPr lang="en-US" dirty="0" err="1"/>
            <a:t>Anweisung</a:t>
          </a:r>
          <a:r>
            <a:rPr lang="en-US" dirty="0"/>
            <a:t>: </a:t>
          </a:r>
          <a:r>
            <a:rPr lang="de-DE" dirty="0"/>
            <a:t> ein einzelner ausführbarer Befehl im Code z.B.: „</a:t>
          </a:r>
          <a:r>
            <a:rPr lang="de-DE" dirty="0" err="1"/>
            <a:t>anzahl</a:t>
          </a:r>
          <a:r>
            <a:rPr lang="de-DE" dirty="0"/>
            <a:t>++;“</a:t>
          </a:r>
          <a:endParaRPr lang="en-US" dirty="0"/>
        </a:p>
      </dgm:t>
    </dgm:pt>
    <dgm:pt modelId="{AC6F0853-5BE3-463E-857C-ACAC18C8994A}" type="parTrans" cxnId="{C284B83C-F231-4225-AB3B-DBA415033A24}">
      <dgm:prSet/>
      <dgm:spPr/>
      <dgm:t>
        <a:bodyPr/>
        <a:lstStyle/>
        <a:p>
          <a:endParaRPr lang="en-US"/>
        </a:p>
      </dgm:t>
    </dgm:pt>
    <dgm:pt modelId="{9722D4FB-644C-4F88-B854-3A333161E3CF}" type="sibTrans" cxnId="{C284B83C-F231-4225-AB3B-DBA415033A24}">
      <dgm:prSet/>
      <dgm:spPr/>
      <dgm:t>
        <a:bodyPr/>
        <a:lstStyle/>
        <a:p>
          <a:endParaRPr lang="en-US"/>
        </a:p>
      </dgm:t>
    </dgm:pt>
    <dgm:pt modelId="{CEFD9518-67E5-441C-B6D4-3036A29E49D2}">
      <dgm:prSet/>
      <dgm:spPr>
        <a:ln>
          <a:solidFill>
            <a:srgbClr val="CFD6CF"/>
          </a:solidFill>
        </a:ln>
      </dgm:spPr>
      <dgm:t>
        <a:bodyPr/>
        <a:lstStyle/>
        <a:p>
          <a:r>
            <a:rPr lang="de-DE" dirty="0"/>
            <a:t>Gemessene Überdeckung zeigt, wie vollständig unser Test die implementierte Logik abdeckt</a:t>
          </a:r>
          <a:endParaRPr lang="en-US" dirty="0"/>
        </a:p>
      </dgm:t>
    </dgm:pt>
    <dgm:pt modelId="{B3BAE419-8701-40BE-926C-23C8C2605A18}" type="parTrans" cxnId="{4EA3119B-F573-4B26-9990-7151C7DD610A}">
      <dgm:prSet/>
      <dgm:spPr/>
      <dgm:t>
        <a:bodyPr/>
        <a:lstStyle/>
        <a:p>
          <a:endParaRPr lang="en-US"/>
        </a:p>
      </dgm:t>
    </dgm:pt>
    <dgm:pt modelId="{30DE5866-96BF-482B-B9B4-1E02A5F1F18B}" type="sibTrans" cxnId="{4EA3119B-F573-4B26-9990-7151C7DD610A}">
      <dgm:prSet/>
      <dgm:spPr/>
      <dgm:t>
        <a:bodyPr/>
        <a:lstStyle/>
        <a:p>
          <a:endParaRPr lang="en-US"/>
        </a:p>
      </dgm:t>
    </dgm:pt>
    <dgm:pt modelId="{96459126-B823-4507-960C-A31322D75473}">
      <dgm:prSet/>
      <dgm:spPr>
        <a:ln>
          <a:solidFill>
            <a:srgbClr val="CFD6CF"/>
          </a:solidFill>
        </a:ln>
      </dgm:spPr>
      <dgm:t>
        <a:bodyPr/>
        <a:lstStyle/>
        <a:p>
          <a:r>
            <a:rPr lang="de-DE" dirty="0"/>
            <a:t>jede ausführbare Anweisung wird im Quellcode </a:t>
          </a:r>
          <a:r>
            <a:rPr lang="de-DE" b="1" dirty="0"/>
            <a:t>mindestens einmal </a:t>
          </a:r>
          <a:r>
            <a:rPr lang="de-DE" dirty="0"/>
            <a:t>durchlaufen</a:t>
          </a:r>
          <a:endParaRPr lang="en-US" dirty="0"/>
        </a:p>
      </dgm:t>
    </dgm:pt>
    <dgm:pt modelId="{7261F11A-962C-419E-B1C7-B4D6378406B0}" type="parTrans" cxnId="{F2C40220-E8F2-4F47-B41D-42C73B63840B}">
      <dgm:prSet/>
      <dgm:spPr/>
      <dgm:t>
        <a:bodyPr/>
        <a:lstStyle/>
        <a:p>
          <a:endParaRPr lang="de-DE"/>
        </a:p>
      </dgm:t>
    </dgm:pt>
    <dgm:pt modelId="{080F4F5E-2613-43D5-A9E6-101D15ACF146}" type="sibTrans" cxnId="{F2C40220-E8F2-4F47-B41D-42C73B63840B}">
      <dgm:prSet/>
      <dgm:spPr/>
      <dgm:t>
        <a:bodyPr/>
        <a:lstStyle/>
        <a:p>
          <a:endParaRPr lang="de-DE"/>
        </a:p>
      </dgm:t>
    </dgm:pt>
    <dgm:pt modelId="{740472D1-BF61-434C-A4E2-EB353C3375F3}">
      <dgm:prSet/>
      <dgm:spPr>
        <a:ln>
          <a:solidFill>
            <a:srgbClr val="CFD6CF"/>
          </a:solidFill>
        </a:ln>
      </dgm:spPr>
      <dgm:t>
        <a:bodyPr/>
        <a:lstStyle/>
        <a:p>
          <a:r>
            <a:rPr lang="de-DE" dirty="0"/>
            <a:t>-&gt; „</a:t>
          </a:r>
          <a:r>
            <a:rPr lang="de-DE" i="1" dirty="0"/>
            <a:t>Wir entwerfen so lange neue Tests, bis alle Anweisungen ausgeführt wurden“</a:t>
          </a:r>
          <a:endParaRPr lang="en-US" dirty="0"/>
        </a:p>
      </dgm:t>
    </dgm:pt>
    <dgm:pt modelId="{B8D26AB9-5BD4-4603-B872-0FBFAE0B49DE}" type="parTrans" cxnId="{BF836567-FD55-4EED-A4DA-981328B6F909}">
      <dgm:prSet/>
      <dgm:spPr/>
      <dgm:t>
        <a:bodyPr/>
        <a:lstStyle/>
        <a:p>
          <a:endParaRPr lang="de-DE"/>
        </a:p>
      </dgm:t>
    </dgm:pt>
    <dgm:pt modelId="{74DFAED3-59C2-4CC1-B084-FD99D188B94A}" type="sibTrans" cxnId="{BF836567-FD55-4EED-A4DA-981328B6F909}">
      <dgm:prSet/>
      <dgm:spPr/>
      <dgm:t>
        <a:bodyPr/>
        <a:lstStyle/>
        <a:p>
          <a:endParaRPr lang="de-DE"/>
        </a:p>
      </dgm:t>
    </dgm:pt>
    <dgm:pt modelId="{B5B9C264-D31A-4F69-9BD0-BC02808E1BD3}" type="pres">
      <dgm:prSet presAssocID="{8EBF4C14-0FFA-4CFB-9C7C-B0FBDB1DBA46}" presName="Name0" presStyleCnt="0">
        <dgm:presLayoutVars>
          <dgm:dir/>
          <dgm:animLvl val="lvl"/>
          <dgm:resizeHandles val="exact"/>
        </dgm:presLayoutVars>
      </dgm:prSet>
      <dgm:spPr/>
    </dgm:pt>
    <dgm:pt modelId="{16E63C0D-8E53-45C4-87FA-865A88B01B1F}" type="pres">
      <dgm:prSet presAssocID="{53565663-88EC-4493-AE47-CEEE1D039B15}" presName="composite" presStyleCnt="0"/>
      <dgm:spPr/>
    </dgm:pt>
    <dgm:pt modelId="{5E71C836-BF05-4994-8213-0C4DCB7238A6}" type="pres">
      <dgm:prSet presAssocID="{53565663-88EC-4493-AE47-CEEE1D039B1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0B9A762-A366-4A5B-965D-0B0803F8BF83}" type="pres">
      <dgm:prSet presAssocID="{53565663-88EC-4493-AE47-CEEE1D039B15}" presName="desTx" presStyleLbl="alignAccFollowNode1" presStyleIdx="0" presStyleCnt="2">
        <dgm:presLayoutVars>
          <dgm:bulletEnabled val="1"/>
        </dgm:presLayoutVars>
      </dgm:prSet>
      <dgm:spPr/>
    </dgm:pt>
    <dgm:pt modelId="{F125B446-19FF-4FB7-B5A7-1EB62B802EE7}" type="pres">
      <dgm:prSet presAssocID="{4A63EB2F-1578-41D9-BC8E-907E936DADF1}" presName="space" presStyleCnt="0"/>
      <dgm:spPr/>
    </dgm:pt>
    <dgm:pt modelId="{C58CC8A9-F1FF-49AB-83DF-D1BD50E9E887}" type="pres">
      <dgm:prSet presAssocID="{C75E720F-120D-44FB-88C9-04F47AB9D032}" presName="composite" presStyleCnt="0"/>
      <dgm:spPr/>
    </dgm:pt>
    <dgm:pt modelId="{CEDE8BCF-C64E-4091-BD56-2600F1A00293}" type="pres">
      <dgm:prSet presAssocID="{C75E720F-120D-44FB-88C9-04F47AB9D03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7CD72D6-B0EF-4B60-8617-AAA3CEF8B390}" type="pres">
      <dgm:prSet presAssocID="{C75E720F-120D-44FB-88C9-04F47AB9D03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45C4B04-A8FB-44D4-A882-BC353F995587}" srcId="{9E951662-E36B-4ADD-953E-DE2F4995D1C5}" destId="{CBCD8C14-3929-464F-BF6D-EFD81441B668}" srcOrd="0" destOrd="0" parTransId="{D7F4CBC2-DD34-43FB-9500-276B8AFD53AC}" sibTransId="{31863D98-3B02-426D-AD75-A487309C7E22}"/>
    <dgm:cxn modelId="{F2C40220-E8F2-4F47-B41D-42C73B63840B}" srcId="{C75E720F-120D-44FB-88C9-04F47AB9D032}" destId="{96459126-B823-4507-960C-A31322D75473}" srcOrd="1" destOrd="0" parTransId="{7261F11A-962C-419E-B1C7-B4D6378406B0}" sibTransId="{080F4F5E-2613-43D5-A9E6-101D15ACF146}"/>
    <dgm:cxn modelId="{AAA33036-5E06-4553-88E2-0BD1A60DF65D}" type="presOf" srcId="{8EBF4C14-0FFA-4CFB-9C7C-B0FBDB1DBA46}" destId="{B5B9C264-D31A-4F69-9BD0-BC02808E1BD3}" srcOrd="0" destOrd="0" presId="urn:microsoft.com/office/officeart/2005/8/layout/hList1"/>
    <dgm:cxn modelId="{EA5E9736-2A63-4DBD-A578-276C9F0ED306}" type="presOf" srcId="{C75E720F-120D-44FB-88C9-04F47AB9D032}" destId="{CEDE8BCF-C64E-4091-BD56-2600F1A00293}" srcOrd="0" destOrd="0" presId="urn:microsoft.com/office/officeart/2005/8/layout/hList1"/>
    <dgm:cxn modelId="{C284B83C-F231-4225-AB3B-DBA415033A24}" srcId="{C75E720F-120D-44FB-88C9-04F47AB9D032}" destId="{FC177072-6B8E-4990-B5BD-1A1B6415831D}" srcOrd="0" destOrd="0" parTransId="{AC6F0853-5BE3-463E-857C-ACAC18C8994A}" sibTransId="{9722D4FB-644C-4F88-B854-3A333161E3CF}"/>
    <dgm:cxn modelId="{326EBA3D-93C5-4A3D-B621-36CECCE1C3D0}" type="presOf" srcId="{CEFD9518-67E5-441C-B6D4-3036A29E49D2}" destId="{17CD72D6-B0EF-4B60-8617-AAA3CEF8B390}" srcOrd="0" destOrd="3" presId="urn:microsoft.com/office/officeart/2005/8/layout/hList1"/>
    <dgm:cxn modelId="{BF836567-FD55-4EED-A4DA-981328B6F909}" srcId="{96459126-B823-4507-960C-A31322D75473}" destId="{740472D1-BF61-434C-A4E2-EB353C3375F3}" srcOrd="0" destOrd="0" parTransId="{B8D26AB9-5BD4-4603-B872-0FBFAE0B49DE}" sibTransId="{74DFAED3-59C2-4CC1-B084-FD99D188B94A}"/>
    <dgm:cxn modelId="{F247C86D-08EB-498E-B596-6BC3B70F630A}" srcId="{8EBF4C14-0FFA-4CFB-9C7C-B0FBDB1DBA46}" destId="{C75E720F-120D-44FB-88C9-04F47AB9D032}" srcOrd="1" destOrd="0" parTransId="{3080F7E0-88E6-4B2E-B400-F7645A6D01C1}" sibTransId="{7F83C3B9-5E04-4D6A-B0E1-590496C89138}"/>
    <dgm:cxn modelId="{A013A87D-EC20-4704-99AF-E512C8C79C52}" srcId="{53565663-88EC-4493-AE47-CEEE1D039B15}" destId="{5ED70F8F-38D5-4BFE-88A9-BC109BA86BFF}" srcOrd="0" destOrd="0" parTransId="{5228CAFF-F594-4A52-BC5C-205308681C69}" sibTransId="{E0D7F383-45E1-4DE4-B5F9-4C2D33371BBE}"/>
    <dgm:cxn modelId="{69410684-7672-4AB8-A8AE-340BCDA71F12}" srcId="{53565663-88EC-4493-AE47-CEEE1D039B15}" destId="{A7CFDDFA-2E5D-49E7-98B3-A995A1D1BA7B}" srcOrd="1" destOrd="0" parTransId="{181A2B71-5122-41D7-BAEF-162462C4128F}" sibTransId="{600E9CF2-12C3-45FB-A602-6EBF9AF69592}"/>
    <dgm:cxn modelId="{EB555187-3E01-4DA6-8BDE-6C9272B08D6C}" type="presOf" srcId="{CBCD8C14-3929-464F-BF6D-EFD81441B668}" destId="{A0B9A762-A366-4A5B-965D-0B0803F8BF83}" srcOrd="0" destOrd="3" presId="urn:microsoft.com/office/officeart/2005/8/layout/hList1"/>
    <dgm:cxn modelId="{9AB5058D-A0F2-4756-BB1E-FEF181B187D6}" type="presOf" srcId="{A7CFDDFA-2E5D-49E7-98B3-A995A1D1BA7B}" destId="{A0B9A762-A366-4A5B-965D-0B0803F8BF83}" srcOrd="0" destOrd="1" presId="urn:microsoft.com/office/officeart/2005/8/layout/hList1"/>
    <dgm:cxn modelId="{E5E0169A-E0C5-462E-815B-561D554AD035}" type="presOf" srcId="{FC177072-6B8E-4990-B5BD-1A1B6415831D}" destId="{17CD72D6-B0EF-4B60-8617-AAA3CEF8B390}" srcOrd="0" destOrd="0" presId="urn:microsoft.com/office/officeart/2005/8/layout/hList1"/>
    <dgm:cxn modelId="{4EA3119B-F573-4B26-9990-7151C7DD610A}" srcId="{C75E720F-120D-44FB-88C9-04F47AB9D032}" destId="{CEFD9518-67E5-441C-B6D4-3036A29E49D2}" srcOrd="2" destOrd="0" parTransId="{B3BAE419-8701-40BE-926C-23C8C2605A18}" sibTransId="{30DE5866-96BF-482B-B9B4-1E02A5F1F18B}"/>
    <dgm:cxn modelId="{B773D0A3-086B-4482-B804-2AF2BD7156B7}" srcId="{A7CFDDFA-2E5D-49E7-98B3-A995A1D1BA7B}" destId="{9E951662-E36B-4ADD-953E-DE2F4995D1C5}" srcOrd="0" destOrd="0" parTransId="{C1B2E73D-8910-4D60-906E-8DF71B4A433C}" sibTransId="{5CEC38D1-4BB3-49C9-9029-415730EB452F}"/>
    <dgm:cxn modelId="{CFACEAA9-42DB-4645-96AD-FAB9754116BE}" type="presOf" srcId="{96459126-B823-4507-960C-A31322D75473}" destId="{17CD72D6-B0EF-4B60-8617-AAA3CEF8B390}" srcOrd="0" destOrd="1" presId="urn:microsoft.com/office/officeart/2005/8/layout/hList1"/>
    <dgm:cxn modelId="{651633B6-DD49-45CF-A42B-8072454AC283}" type="presOf" srcId="{9E951662-E36B-4ADD-953E-DE2F4995D1C5}" destId="{A0B9A762-A366-4A5B-965D-0B0803F8BF83}" srcOrd="0" destOrd="2" presId="urn:microsoft.com/office/officeart/2005/8/layout/hList1"/>
    <dgm:cxn modelId="{368538B9-D29D-4EC1-92DE-4E1234900267}" type="presOf" srcId="{740472D1-BF61-434C-A4E2-EB353C3375F3}" destId="{17CD72D6-B0EF-4B60-8617-AAA3CEF8B390}" srcOrd="0" destOrd="2" presId="urn:microsoft.com/office/officeart/2005/8/layout/hList1"/>
    <dgm:cxn modelId="{B539ACC3-0905-477E-AF4A-E1F8334FD0B7}" srcId="{8EBF4C14-0FFA-4CFB-9C7C-B0FBDB1DBA46}" destId="{53565663-88EC-4493-AE47-CEEE1D039B15}" srcOrd="0" destOrd="0" parTransId="{F77ECF74-64BD-468A-96AF-FCC46863696D}" sibTransId="{4A63EB2F-1578-41D9-BC8E-907E936DADF1}"/>
    <dgm:cxn modelId="{E50AB5E1-47AA-4791-ACDA-9BC8726E531C}" type="presOf" srcId="{53565663-88EC-4493-AE47-CEEE1D039B15}" destId="{5E71C836-BF05-4994-8213-0C4DCB7238A6}" srcOrd="0" destOrd="0" presId="urn:microsoft.com/office/officeart/2005/8/layout/hList1"/>
    <dgm:cxn modelId="{EFDB29FA-E7C7-451E-8CCD-DD09C33B9F81}" type="presOf" srcId="{5ED70F8F-38D5-4BFE-88A9-BC109BA86BFF}" destId="{A0B9A762-A366-4A5B-965D-0B0803F8BF83}" srcOrd="0" destOrd="0" presId="urn:microsoft.com/office/officeart/2005/8/layout/hList1"/>
    <dgm:cxn modelId="{89498239-4A4A-4895-A1B2-E69DB8676A39}" type="presParOf" srcId="{B5B9C264-D31A-4F69-9BD0-BC02808E1BD3}" destId="{16E63C0D-8E53-45C4-87FA-865A88B01B1F}" srcOrd="0" destOrd="0" presId="urn:microsoft.com/office/officeart/2005/8/layout/hList1"/>
    <dgm:cxn modelId="{5AC585E5-6B27-4040-A647-9A7AD565A50A}" type="presParOf" srcId="{16E63C0D-8E53-45C4-87FA-865A88B01B1F}" destId="{5E71C836-BF05-4994-8213-0C4DCB7238A6}" srcOrd="0" destOrd="0" presId="urn:microsoft.com/office/officeart/2005/8/layout/hList1"/>
    <dgm:cxn modelId="{658A9A9C-79D6-4019-9F98-56525385D798}" type="presParOf" srcId="{16E63C0D-8E53-45C4-87FA-865A88B01B1F}" destId="{A0B9A762-A366-4A5B-965D-0B0803F8BF83}" srcOrd="1" destOrd="0" presId="urn:microsoft.com/office/officeart/2005/8/layout/hList1"/>
    <dgm:cxn modelId="{3BF5D15C-28E2-4788-A919-4D6543990CC1}" type="presParOf" srcId="{B5B9C264-D31A-4F69-9BD0-BC02808E1BD3}" destId="{F125B446-19FF-4FB7-B5A7-1EB62B802EE7}" srcOrd="1" destOrd="0" presId="urn:microsoft.com/office/officeart/2005/8/layout/hList1"/>
    <dgm:cxn modelId="{B7D4CD6F-C35D-4C72-BB96-0BB4EACCCCB7}" type="presParOf" srcId="{B5B9C264-D31A-4F69-9BD0-BC02808E1BD3}" destId="{C58CC8A9-F1FF-49AB-83DF-D1BD50E9E887}" srcOrd="2" destOrd="0" presId="urn:microsoft.com/office/officeart/2005/8/layout/hList1"/>
    <dgm:cxn modelId="{5518B8E3-AD02-48FA-8483-0D10EEA29FB1}" type="presParOf" srcId="{C58CC8A9-F1FF-49AB-83DF-D1BD50E9E887}" destId="{CEDE8BCF-C64E-4091-BD56-2600F1A00293}" srcOrd="0" destOrd="0" presId="urn:microsoft.com/office/officeart/2005/8/layout/hList1"/>
    <dgm:cxn modelId="{88758793-70EF-4873-B026-97B82DC5A743}" type="presParOf" srcId="{C58CC8A9-F1FF-49AB-83DF-D1BD50E9E887}" destId="{17CD72D6-B0EF-4B60-8617-AAA3CEF8B3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8CFF4F-BD6E-48D5-B581-DDC87E321D1B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DC76AD3-D6BA-4983-97D0-E9C79AE808C6}">
      <dgm:prSet/>
      <dgm:spPr/>
      <dgm:t>
        <a:bodyPr/>
        <a:lstStyle/>
        <a:p>
          <a:r>
            <a:rPr lang="de-DE" dirty="0"/>
            <a:t>Beim Entscheidungsüberdenken geht es darum, dass Tests so gestaltet werden, dass alle möglichen Entscheidungswege im Programm mindestens einmal durchlaufen werden. z. B.:</a:t>
          </a:r>
          <a:endParaRPr lang="en-US" dirty="0"/>
        </a:p>
      </dgm:t>
    </dgm:pt>
    <dgm:pt modelId="{93ADB79C-9783-45C2-8630-BB721E91AA43}" type="parTrans" cxnId="{7E944E9C-F7F9-418D-90A1-5ADADD5E2191}">
      <dgm:prSet/>
      <dgm:spPr/>
      <dgm:t>
        <a:bodyPr/>
        <a:lstStyle/>
        <a:p>
          <a:endParaRPr lang="en-US"/>
        </a:p>
      </dgm:t>
    </dgm:pt>
    <dgm:pt modelId="{D3A915DB-A5E1-4E22-854C-49D8D9D0D370}" type="sibTrans" cxnId="{7E944E9C-F7F9-418D-90A1-5ADADD5E2191}">
      <dgm:prSet/>
      <dgm:spPr/>
      <dgm:t>
        <a:bodyPr/>
        <a:lstStyle/>
        <a:p>
          <a:endParaRPr lang="en-US"/>
        </a:p>
      </dgm:t>
    </dgm:pt>
    <dgm:pt modelId="{9316B335-0FC1-4179-A2FC-08DEFE2A5367}">
      <dgm:prSet/>
      <dgm:spPr/>
      <dgm:t>
        <a:bodyPr/>
        <a:lstStyle/>
        <a:p>
          <a:r>
            <a:rPr lang="de-DE"/>
            <a:t>if-Abfragen (Ja/Nein)</a:t>
          </a:r>
          <a:endParaRPr lang="en-US"/>
        </a:p>
      </dgm:t>
    </dgm:pt>
    <dgm:pt modelId="{9F82FDAF-3EEA-4C75-9B81-64C0C00A3C24}" type="parTrans" cxnId="{20658014-574E-4302-B806-F0A7AD6EB114}">
      <dgm:prSet/>
      <dgm:spPr/>
      <dgm:t>
        <a:bodyPr/>
        <a:lstStyle/>
        <a:p>
          <a:endParaRPr lang="en-US"/>
        </a:p>
      </dgm:t>
    </dgm:pt>
    <dgm:pt modelId="{031B0833-BB71-4354-9EF3-FFC49FAF339E}" type="sibTrans" cxnId="{20658014-574E-4302-B806-F0A7AD6EB114}">
      <dgm:prSet/>
      <dgm:spPr/>
      <dgm:t>
        <a:bodyPr/>
        <a:lstStyle/>
        <a:p>
          <a:endParaRPr lang="en-US"/>
        </a:p>
      </dgm:t>
    </dgm:pt>
    <dgm:pt modelId="{CA669F25-40B6-4928-BC03-A45A423E485F}">
      <dgm:prSet/>
      <dgm:spPr/>
      <dgm:t>
        <a:bodyPr/>
        <a:lstStyle/>
        <a:p>
          <a:r>
            <a:rPr lang="de-DE"/>
            <a:t>switch/case-Verzweigungen</a:t>
          </a:r>
          <a:endParaRPr lang="en-US"/>
        </a:p>
      </dgm:t>
    </dgm:pt>
    <dgm:pt modelId="{33641299-998F-4004-86EB-4106FCC639DA}" type="parTrans" cxnId="{8A0E1CF1-8424-4BE4-AFF1-A39019D6CDB9}">
      <dgm:prSet/>
      <dgm:spPr/>
      <dgm:t>
        <a:bodyPr/>
        <a:lstStyle/>
        <a:p>
          <a:endParaRPr lang="en-US"/>
        </a:p>
      </dgm:t>
    </dgm:pt>
    <dgm:pt modelId="{49B74068-9F1D-4505-BA44-232F0CBA5CE8}" type="sibTrans" cxnId="{8A0E1CF1-8424-4BE4-AFF1-A39019D6CDB9}">
      <dgm:prSet/>
      <dgm:spPr/>
      <dgm:t>
        <a:bodyPr/>
        <a:lstStyle/>
        <a:p>
          <a:endParaRPr lang="en-US"/>
        </a:p>
      </dgm:t>
    </dgm:pt>
    <dgm:pt modelId="{61F9C783-8F56-400A-8E0F-3326CDA32470}">
      <dgm:prSet/>
      <dgm:spPr/>
      <dgm:t>
        <a:bodyPr/>
        <a:lstStyle/>
        <a:p>
          <a:r>
            <a:rPr lang="de-DE"/>
            <a:t>Schleifenbedingungen (while, for)</a:t>
          </a:r>
          <a:endParaRPr lang="en-US"/>
        </a:p>
      </dgm:t>
    </dgm:pt>
    <dgm:pt modelId="{58BB5738-25B8-4F3F-8FE4-1DA41FBCF623}" type="parTrans" cxnId="{6D0BF847-28C8-4E42-B5EE-D28DB7BB336A}">
      <dgm:prSet/>
      <dgm:spPr/>
      <dgm:t>
        <a:bodyPr/>
        <a:lstStyle/>
        <a:p>
          <a:endParaRPr lang="en-US"/>
        </a:p>
      </dgm:t>
    </dgm:pt>
    <dgm:pt modelId="{C76C03B0-B6AA-4FE4-AA3C-6ADA2313720A}" type="sibTrans" cxnId="{6D0BF847-28C8-4E42-B5EE-D28DB7BB336A}">
      <dgm:prSet/>
      <dgm:spPr/>
      <dgm:t>
        <a:bodyPr/>
        <a:lstStyle/>
        <a:p>
          <a:endParaRPr lang="en-US"/>
        </a:p>
      </dgm:t>
    </dgm:pt>
    <dgm:pt modelId="{F02D86F6-341A-4DE9-8C2D-EA4599D71B4D}">
      <dgm:prSet/>
      <dgm:spPr>
        <a:solidFill>
          <a:schemeClr val="accent3"/>
        </a:solidFill>
      </dgm:spPr>
      <dgm:t>
        <a:bodyPr/>
        <a:lstStyle/>
        <a:p>
          <a:r>
            <a:rPr lang="de-DE" dirty="0"/>
            <a:t>Jede Entscheidung im Code soll mindestens einmal mit „wahr“ (</a:t>
          </a:r>
          <a:r>
            <a:rPr lang="de-DE" dirty="0" err="1"/>
            <a:t>true</a:t>
          </a:r>
          <a:r>
            <a:rPr lang="de-DE" dirty="0"/>
            <a:t>) und mindestens einmal mit „falsch“ (</a:t>
          </a:r>
          <a:r>
            <a:rPr lang="de-DE" dirty="0" err="1"/>
            <a:t>false</a:t>
          </a:r>
          <a:r>
            <a:rPr lang="de-DE" dirty="0"/>
            <a:t>) durchlaufen werden. Dadurch werden nicht nur alle Anweisungen, sondern auch die verschiedenen Verzweigungswege getestet.</a:t>
          </a:r>
          <a:endParaRPr lang="en-US" dirty="0"/>
        </a:p>
      </dgm:t>
    </dgm:pt>
    <dgm:pt modelId="{CDFEF1C5-0C60-4D2D-B70B-0F20B4D95CC6}" type="parTrans" cxnId="{3F019497-7B59-4BF2-84A9-947BDE9D699E}">
      <dgm:prSet/>
      <dgm:spPr/>
      <dgm:t>
        <a:bodyPr/>
        <a:lstStyle/>
        <a:p>
          <a:endParaRPr lang="en-US"/>
        </a:p>
      </dgm:t>
    </dgm:pt>
    <dgm:pt modelId="{C04419DE-3B9F-425A-B800-F1BE3938EDF4}" type="sibTrans" cxnId="{3F019497-7B59-4BF2-84A9-947BDE9D699E}">
      <dgm:prSet/>
      <dgm:spPr/>
      <dgm:t>
        <a:bodyPr/>
        <a:lstStyle/>
        <a:p>
          <a:endParaRPr lang="en-US"/>
        </a:p>
      </dgm:t>
    </dgm:pt>
    <dgm:pt modelId="{F8DC682D-C459-4D40-B7F3-26230383FE81}">
      <dgm:prSet/>
      <dgm:spPr>
        <a:solidFill>
          <a:srgbClr val="CFD6CF">
            <a:alpha val="90000"/>
          </a:srgbClr>
        </a:solidFill>
        <a:ln>
          <a:solidFill>
            <a:srgbClr val="CFD6CF">
              <a:alpha val="90000"/>
            </a:srgbClr>
          </a:solidFill>
        </a:ln>
      </dgm:spPr>
      <dgm:t>
        <a:bodyPr/>
        <a:lstStyle/>
        <a:p>
          <a:r>
            <a:rPr lang="de-DE"/>
            <a:t>Beispiel: Alter &gt;18 (true/false)</a:t>
          </a:r>
          <a:endParaRPr lang="en-US"/>
        </a:p>
      </dgm:t>
    </dgm:pt>
    <dgm:pt modelId="{4ECB2E43-10E6-499D-B943-30182CBC7B47}" type="parTrans" cxnId="{66F1263F-20AC-4AA9-B8FD-A4379885A95D}">
      <dgm:prSet/>
      <dgm:spPr/>
      <dgm:t>
        <a:bodyPr/>
        <a:lstStyle/>
        <a:p>
          <a:endParaRPr lang="en-US"/>
        </a:p>
      </dgm:t>
    </dgm:pt>
    <dgm:pt modelId="{CB979E41-0570-4900-B8A6-B8A664C5C211}" type="sibTrans" cxnId="{66F1263F-20AC-4AA9-B8FD-A4379885A95D}">
      <dgm:prSet/>
      <dgm:spPr/>
      <dgm:t>
        <a:bodyPr/>
        <a:lstStyle/>
        <a:p>
          <a:endParaRPr lang="en-US"/>
        </a:p>
      </dgm:t>
    </dgm:pt>
    <dgm:pt modelId="{761879F1-69E7-4EFB-B9A3-E72B92C79769}" type="pres">
      <dgm:prSet presAssocID="{858CFF4F-BD6E-48D5-B581-DDC87E321D1B}" presName="Name0" presStyleCnt="0">
        <dgm:presLayoutVars>
          <dgm:dir/>
          <dgm:animLvl val="lvl"/>
          <dgm:resizeHandles val="exact"/>
        </dgm:presLayoutVars>
      </dgm:prSet>
      <dgm:spPr/>
    </dgm:pt>
    <dgm:pt modelId="{895AE6E8-8099-4704-AE63-7084DE817F17}" type="pres">
      <dgm:prSet presAssocID="{3DC76AD3-D6BA-4983-97D0-E9C79AE808C6}" presName="linNode" presStyleCnt="0"/>
      <dgm:spPr/>
    </dgm:pt>
    <dgm:pt modelId="{071BC081-B9A5-4EFD-83B6-E6DB647A8549}" type="pres">
      <dgm:prSet presAssocID="{3DC76AD3-D6BA-4983-97D0-E9C79AE808C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DFF69DA-AE15-4F70-A46F-879599110854}" type="pres">
      <dgm:prSet presAssocID="{3DC76AD3-D6BA-4983-97D0-E9C79AE808C6}" presName="descendantText" presStyleLbl="alignAccFollowNode1" presStyleIdx="0" presStyleCnt="2">
        <dgm:presLayoutVars>
          <dgm:bulletEnabled val="1"/>
        </dgm:presLayoutVars>
      </dgm:prSet>
      <dgm:spPr/>
    </dgm:pt>
    <dgm:pt modelId="{331AF947-996A-4305-A9D5-48DCC366608B}" type="pres">
      <dgm:prSet presAssocID="{D3A915DB-A5E1-4E22-854C-49D8D9D0D370}" presName="sp" presStyleCnt="0"/>
      <dgm:spPr/>
    </dgm:pt>
    <dgm:pt modelId="{A0D1665A-79A6-4F64-AE75-4B39DEDE443A}" type="pres">
      <dgm:prSet presAssocID="{F02D86F6-341A-4DE9-8C2D-EA4599D71B4D}" presName="linNode" presStyleCnt="0"/>
      <dgm:spPr/>
    </dgm:pt>
    <dgm:pt modelId="{F49C3DC0-037B-40CC-B1D9-11A98EC790A9}" type="pres">
      <dgm:prSet presAssocID="{F02D86F6-341A-4DE9-8C2D-EA4599D71B4D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A9F71B6-8EB8-4BD0-8775-A3C2F5BC198B}" type="pres">
      <dgm:prSet presAssocID="{F02D86F6-341A-4DE9-8C2D-EA4599D71B4D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E8BD5505-7CED-4074-80FA-484CEF4E09FC}" type="presOf" srcId="{858CFF4F-BD6E-48D5-B581-DDC87E321D1B}" destId="{761879F1-69E7-4EFB-B9A3-E72B92C79769}" srcOrd="0" destOrd="0" presId="urn:microsoft.com/office/officeart/2005/8/layout/vList5"/>
    <dgm:cxn modelId="{20658014-574E-4302-B806-F0A7AD6EB114}" srcId="{3DC76AD3-D6BA-4983-97D0-E9C79AE808C6}" destId="{9316B335-0FC1-4179-A2FC-08DEFE2A5367}" srcOrd="0" destOrd="0" parTransId="{9F82FDAF-3EEA-4C75-9B81-64C0C00A3C24}" sibTransId="{031B0833-BB71-4354-9EF3-FFC49FAF339E}"/>
    <dgm:cxn modelId="{CE9DB21F-3FD9-409C-B929-9019F625E12F}" type="presOf" srcId="{3DC76AD3-D6BA-4983-97D0-E9C79AE808C6}" destId="{071BC081-B9A5-4EFD-83B6-E6DB647A8549}" srcOrd="0" destOrd="0" presId="urn:microsoft.com/office/officeart/2005/8/layout/vList5"/>
    <dgm:cxn modelId="{66F1263F-20AC-4AA9-B8FD-A4379885A95D}" srcId="{F02D86F6-341A-4DE9-8C2D-EA4599D71B4D}" destId="{F8DC682D-C459-4D40-B7F3-26230383FE81}" srcOrd="0" destOrd="0" parTransId="{4ECB2E43-10E6-499D-B943-30182CBC7B47}" sibTransId="{CB979E41-0570-4900-B8A6-B8A664C5C211}"/>
    <dgm:cxn modelId="{15AD4063-EF9F-4BC2-9221-181E416E04CB}" type="presOf" srcId="{9316B335-0FC1-4179-A2FC-08DEFE2A5367}" destId="{DDFF69DA-AE15-4F70-A46F-879599110854}" srcOrd="0" destOrd="0" presId="urn:microsoft.com/office/officeart/2005/8/layout/vList5"/>
    <dgm:cxn modelId="{6D0BF847-28C8-4E42-B5EE-D28DB7BB336A}" srcId="{3DC76AD3-D6BA-4983-97D0-E9C79AE808C6}" destId="{61F9C783-8F56-400A-8E0F-3326CDA32470}" srcOrd="2" destOrd="0" parTransId="{58BB5738-25B8-4F3F-8FE4-1DA41FBCF623}" sibTransId="{C76C03B0-B6AA-4FE4-AA3C-6ADA2313720A}"/>
    <dgm:cxn modelId="{D4D2D84F-BC36-4F65-8899-82D9222A3736}" type="presOf" srcId="{F02D86F6-341A-4DE9-8C2D-EA4599D71B4D}" destId="{F49C3DC0-037B-40CC-B1D9-11A98EC790A9}" srcOrd="0" destOrd="0" presId="urn:microsoft.com/office/officeart/2005/8/layout/vList5"/>
    <dgm:cxn modelId="{940E9F77-6F18-4EBD-BE17-13D6794EE7B8}" type="presOf" srcId="{F8DC682D-C459-4D40-B7F3-26230383FE81}" destId="{0A9F71B6-8EB8-4BD0-8775-A3C2F5BC198B}" srcOrd="0" destOrd="0" presId="urn:microsoft.com/office/officeart/2005/8/layout/vList5"/>
    <dgm:cxn modelId="{3F019497-7B59-4BF2-84A9-947BDE9D699E}" srcId="{858CFF4F-BD6E-48D5-B581-DDC87E321D1B}" destId="{F02D86F6-341A-4DE9-8C2D-EA4599D71B4D}" srcOrd="1" destOrd="0" parTransId="{CDFEF1C5-0C60-4D2D-B70B-0F20B4D95CC6}" sibTransId="{C04419DE-3B9F-425A-B800-F1BE3938EDF4}"/>
    <dgm:cxn modelId="{7E944E9C-F7F9-418D-90A1-5ADADD5E2191}" srcId="{858CFF4F-BD6E-48D5-B581-DDC87E321D1B}" destId="{3DC76AD3-D6BA-4983-97D0-E9C79AE808C6}" srcOrd="0" destOrd="0" parTransId="{93ADB79C-9783-45C2-8630-BB721E91AA43}" sibTransId="{D3A915DB-A5E1-4E22-854C-49D8D9D0D370}"/>
    <dgm:cxn modelId="{DAC9DAB2-4932-48E5-9352-07E445C8CE29}" type="presOf" srcId="{CA669F25-40B6-4928-BC03-A45A423E485F}" destId="{DDFF69DA-AE15-4F70-A46F-879599110854}" srcOrd="0" destOrd="1" presId="urn:microsoft.com/office/officeart/2005/8/layout/vList5"/>
    <dgm:cxn modelId="{5E53E3C4-6309-4879-B720-0EED89E6226B}" type="presOf" srcId="{61F9C783-8F56-400A-8E0F-3326CDA32470}" destId="{DDFF69DA-AE15-4F70-A46F-879599110854}" srcOrd="0" destOrd="2" presId="urn:microsoft.com/office/officeart/2005/8/layout/vList5"/>
    <dgm:cxn modelId="{8A0E1CF1-8424-4BE4-AFF1-A39019D6CDB9}" srcId="{3DC76AD3-D6BA-4983-97D0-E9C79AE808C6}" destId="{CA669F25-40B6-4928-BC03-A45A423E485F}" srcOrd="1" destOrd="0" parTransId="{33641299-998F-4004-86EB-4106FCC639DA}" sibTransId="{49B74068-9F1D-4505-BA44-232F0CBA5CE8}"/>
    <dgm:cxn modelId="{11885EE2-E104-4DAF-B673-4E140FED917A}" type="presParOf" srcId="{761879F1-69E7-4EFB-B9A3-E72B92C79769}" destId="{895AE6E8-8099-4704-AE63-7084DE817F17}" srcOrd="0" destOrd="0" presId="urn:microsoft.com/office/officeart/2005/8/layout/vList5"/>
    <dgm:cxn modelId="{9A7B01F7-6491-4ED4-AEDC-5D109C46698D}" type="presParOf" srcId="{895AE6E8-8099-4704-AE63-7084DE817F17}" destId="{071BC081-B9A5-4EFD-83B6-E6DB647A8549}" srcOrd="0" destOrd="0" presId="urn:microsoft.com/office/officeart/2005/8/layout/vList5"/>
    <dgm:cxn modelId="{3300FA19-C812-472F-A657-4D0EA45D982D}" type="presParOf" srcId="{895AE6E8-8099-4704-AE63-7084DE817F17}" destId="{DDFF69DA-AE15-4F70-A46F-879599110854}" srcOrd="1" destOrd="0" presId="urn:microsoft.com/office/officeart/2005/8/layout/vList5"/>
    <dgm:cxn modelId="{D5CF29F9-FBB3-40F8-B671-7C8CBBD5DDFD}" type="presParOf" srcId="{761879F1-69E7-4EFB-B9A3-E72B92C79769}" destId="{331AF947-996A-4305-A9D5-48DCC366608B}" srcOrd="1" destOrd="0" presId="urn:microsoft.com/office/officeart/2005/8/layout/vList5"/>
    <dgm:cxn modelId="{C01CBEC2-2D3E-4C32-8A31-200E63DBD629}" type="presParOf" srcId="{761879F1-69E7-4EFB-B9A3-E72B92C79769}" destId="{A0D1665A-79A6-4F64-AE75-4B39DEDE443A}" srcOrd="2" destOrd="0" presId="urn:microsoft.com/office/officeart/2005/8/layout/vList5"/>
    <dgm:cxn modelId="{E5DEAA77-5FFE-4F6C-91C2-F5D2DC1EAC47}" type="presParOf" srcId="{A0D1665A-79A6-4F64-AE75-4B39DEDE443A}" destId="{F49C3DC0-037B-40CC-B1D9-11A98EC790A9}" srcOrd="0" destOrd="0" presId="urn:microsoft.com/office/officeart/2005/8/layout/vList5"/>
    <dgm:cxn modelId="{C7A62987-104D-4900-A8D2-D022550AE76E}" type="presParOf" srcId="{A0D1665A-79A6-4F64-AE75-4B39DEDE443A}" destId="{0A9F71B6-8EB8-4BD0-8775-A3C2F5BC19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4660D9-D2F1-44E5-A45F-59FA9158746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0A1163-2AD5-4575-9FF6-6CA72910D70D}">
      <dgm:prSet/>
      <dgm:spPr/>
      <dgm:t>
        <a:bodyPr/>
        <a:lstStyle/>
        <a:p>
          <a:r>
            <a:rPr lang="de-DE" b="1"/>
            <a:t>Anweisungsüberdecken</a:t>
          </a:r>
          <a:r>
            <a:rPr lang="de-DE"/>
            <a:t>: Jede Zeile/Anweisung wird mindestens einmal ausgeführt.</a:t>
          </a:r>
          <a:endParaRPr lang="en-US"/>
        </a:p>
      </dgm:t>
    </dgm:pt>
    <dgm:pt modelId="{038E413A-8F0D-4DDB-B66A-95E1E5413681}" type="parTrans" cxnId="{B0E36F4A-03BC-4D8D-AFFC-74CA31DFE20F}">
      <dgm:prSet/>
      <dgm:spPr/>
      <dgm:t>
        <a:bodyPr/>
        <a:lstStyle/>
        <a:p>
          <a:endParaRPr lang="en-US"/>
        </a:p>
      </dgm:t>
    </dgm:pt>
    <dgm:pt modelId="{733CB730-6779-43E8-A6E1-465930425F53}" type="sibTrans" cxnId="{B0E36F4A-03BC-4D8D-AFFC-74CA31DFE20F}">
      <dgm:prSet/>
      <dgm:spPr/>
      <dgm:t>
        <a:bodyPr/>
        <a:lstStyle/>
        <a:p>
          <a:endParaRPr lang="en-US"/>
        </a:p>
      </dgm:t>
    </dgm:pt>
    <dgm:pt modelId="{3751A8B5-2661-4B61-8A50-E2B75B9525D9}">
      <dgm:prSet/>
      <dgm:spPr/>
      <dgm:t>
        <a:bodyPr/>
        <a:lstStyle/>
        <a:p>
          <a:r>
            <a:rPr lang="de-DE" b="1"/>
            <a:t>Entscheidungsüberdenken</a:t>
          </a:r>
          <a:r>
            <a:rPr lang="de-DE"/>
            <a:t>: Jede Entscheidung (Verzweigung) wird mit allen</a:t>
          </a:r>
          <a:br>
            <a:rPr lang="de-DE"/>
          </a:br>
          <a:r>
            <a:rPr lang="de-DE"/>
            <a:t>möglichen Ausgängen (true/false) ausgeführt</a:t>
          </a:r>
          <a:endParaRPr lang="en-US"/>
        </a:p>
      </dgm:t>
    </dgm:pt>
    <dgm:pt modelId="{1EC04B59-4D75-4354-9FFB-ECC5EECA094A}" type="parTrans" cxnId="{1F5369A6-97E6-4B3C-A756-2A5AA0E410BC}">
      <dgm:prSet/>
      <dgm:spPr/>
      <dgm:t>
        <a:bodyPr/>
        <a:lstStyle/>
        <a:p>
          <a:endParaRPr lang="en-US"/>
        </a:p>
      </dgm:t>
    </dgm:pt>
    <dgm:pt modelId="{73331376-B262-4D13-A7A5-814195AB5375}" type="sibTrans" cxnId="{1F5369A6-97E6-4B3C-A756-2A5AA0E410BC}">
      <dgm:prSet/>
      <dgm:spPr/>
      <dgm:t>
        <a:bodyPr/>
        <a:lstStyle/>
        <a:p>
          <a:endParaRPr lang="en-US"/>
        </a:p>
      </dgm:t>
    </dgm:pt>
    <dgm:pt modelId="{76B64F77-F123-4A2E-B08F-9A6B1640FB92}" type="pres">
      <dgm:prSet presAssocID="{1D4660D9-D2F1-44E5-A45F-59FA91587468}" presName="linear" presStyleCnt="0">
        <dgm:presLayoutVars>
          <dgm:animLvl val="lvl"/>
          <dgm:resizeHandles val="exact"/>
        </dgm:presLayoutVars>
      </dgm:prSet>
      <dgm:spPr/>
    </dgm:pt>
    <dgm:pt modelId="{43DDF254-947F-4AD7-A565-3BCA81F0C4C9}" type="pres">
      <dgm:prSet presAssocID="{AF0A1163-2AD5-4575-9FF6-6CA72910D70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87CDA7-B620-4F0B-BD99-1F71452BAD45}" type="pres">
      <dgm:prSet presAssocID="{733CB730-6779-43E8-A6E1-465930425F53}" presName="spacer" presStyleCnt="0"/>
      <dgm:spPr/>
    </dgm:pt>
    <dgm:pt modelId="{06379356-3FF6-4AB4-AF53-7A2CA08F493C}" type="pres">
      <dgm:prSet presAssocID="{3751A8B5-2661-4B61-8A50-E2B75B9525D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C368220-B685-4308-9CE4-041AA08513BB}" type="presOf" srcId="{3751A8B5-2661-4B61-8A50-E2B75B9525D9}" destId="{06379356-3FF6-4AB4-AF53-7A2CA08F493C}" srcOrd="0" destOrd="0" presId="urn:microsoft.com/office/officeart/2005/8/layout/vList2"/>
    <dgm:cxn modelId="{F0E4395C-D0B9-47B2-8F67-CEDEE788D7BB}" type="presOf" srcId="{1D4660D9-D2F1-44E5-A45F-59FA91587468}" destId="{76B64F77-F123-4A2E-B08F-9A6B1640FB92}" srcOrd="0" destOrd="0" presId="urn:microsoft.com/office/officeart/2005/8/layout/vList2"/>
    <dgm:cxn modelId="{B0E36F4A-03BC-4D8D-AFFC-74CA31DFE20F}" srcId="{1D4660D9-D2F1-44E5-A45F-59FA91587468}" destId="{AF0A1163-2AD5-4575-9FF6-6CA72910D70D}" srcOrd="0" destOrd="0" parTransId="{038E413A-8F0D-4DDB-B66A-95E1E5413681}" sibTransId="{733CB730-6779-43E8-A6E1-465930425F53}"/>
    <dgm:cxn modelId="{1F5369A6-97E6-4B3C-A756-2A5AA0E410BC}" srcId="{1D4660D9-D2F1-44E5-A45F-59FA91587468}" destId="{3751A8B5-2661-4B61-8A50-E2B75B9525D9}" srcOrd="1" destOrd="0" parTransId="{1EC04B59-4D75-4354-9FFB-ECC5EECA094A}" sibTransId="{73331376-B262-4D13-A7A5-814195AB5375}"/>
    <dgm:cxn modelId="{E512CFF0-4B46-41CE-9B66-9588A23939DE}" type="presOf" srcId="{AF0A1163-2AD5-4575-9FF6-6CA72910D70D}" destId="{43DDF254-947F-4AD7-A565-3BCA81F0C4C9}" srcOrd="0" destOrd="0" presId="urn:microsoft.com/office/officeart/2005/8/layout/vList2"/>
    <dgm:cxn modelId="{EFCE306F-7569-46A9-ABF2-393C8BEC6A5A}" type="presParOf" srcId="{76B64F77-F123-4A2E-B08F-9A6B1640FB92}" destId="{43DDF254-947F-4AD7-A565-3BCA81F0C4C9}" srcOrd="0" destOrd="0" presId="urn:microsoft.com/office/officeart/2005/8/layout/vList2"/>
    <dgm:cxn modelId="{3F4BB14B-379B-4954-BAD3-5E3DD5DA5381}" type="presParOf" srcId="{76B64F77-F123-4A2E-B08F-9A6B1640FB92}" destId="{F587CDA7-B620-4F0B-BD99-1F71452BAD45}" srcOrd="1" destOrd="0" presId="urn:microsoft.com/office/officeart/2005/8/layout/vList2"/>
    <dgm:cxn modelId="{434077EC-9C6D-4820-AF03-1A1EFD9DB7B1}" type="presParOf" srcId="{76B64F77-F123-4A2E-B08F-9A6B1640FB92}" destId="{06379356-3FF6-4AB4-AF53-7A2CA08F493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1C836-BF05-4994-8213-0C4DCB7238A6}">
      <dsp:nvSpPr>
        <dsp:cNvPr id="0" name=""/>
        <dsp:cNvSpPr/>
      </dsp:nvSpPr>
      <dsp:spPr>
        <a:xfrm>
          <a:off x="51" y="40593"/>
          <a:ext cx="4913783" cy="7496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Konkretes </a:t>
          </a:r>
          <a:r>
            <a:rPr lang="de-DE" sz="2000" b="1" kern="1200" dirty="0"/>
            <a:t>White-Box-Testentwurfsverfahren</a:t>
          </a:r>
          <a:endParaRPr lang="en-US" sz="2000" kern="1200" dirty="0"/>
        </a:p>
      </dsp:txBody>
      <dsp:txXfrm>
        <a:off x="51" y="40593"/>
        <a:ext cx="4913783" cy="749689"/>
      </dsp:txXfrm>
    </dsp:sp>
    <dsp:sp modelId="{A0B9A762-A366-4A5B-965D-0B0803F8BF83}">
      <dsp:nvSpPr>
        <dsp:cNvPr id="0" name=""/>
        <dsp:cNvSpPr/>
      </dsp:nvSpPr>
      <dsp:spPr>
        <a:xfrm>
          <a:off x="51" y="790282"/>
          <a:ext cx="4913783" cy="352046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b="1" kern="1200"/>
            <a:t>White-Box</a:t>
          </a:r>
          <a:r>
            <a:rPr lang="de-DE" sz="2000" kern="1200"/>
            <a:t> = die Box (das System) ist „durchsichtig“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b="1" kern="1200"/>
            <a:t>White-Box-Testing</a:t>
          </a:r>
          <a:r>
            <a:rPr lang="de-DE" sz="2000" kern="1200"/>
            <a:t>: Tests anhand des Quellcodes, Struktur bzw. Programmlogik</a:t>
          </a:r>
          <a:endParaRPr lang="en-US" sz="2000" kern="120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Beispiel: Ich schaue in den Code und leite daraus Testfälle ab, z. B. mit dem Ziel:</a:t>
          </a:r>
          <a:endParaRPr lang="en-US" sz="2000" kern="1200"/>
        </a:p>
        <a:p>
          <a:pPr marL="685800" lvl="3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alle Anweisungen ausführen</a:t>
          </a:r>
          <a:endParaRPr lang="en-US" sz="2000" kern="1200"/>
        </a:p>
      </dsp:txBody>
      <dsp:txXfrm>
        <a:off x="51" y="790282"/>
        <a:ext cx="4913783" cy="3520462"/>
      </dsp:txXfrm>
    </dsp:sp>
    <dsp:sp modelId="{CEDE8BCF-C64E-4091-BD56-2600F1A00293}">
      <dsp:nvSpPr>
        <dsp:cNvPr id="0" name=""/>
        <dsp:cNvSpPr/>
      </dsp:nvSpPr>
      <dsp:spPr>
        <a:xfrm>
          <a:off x="5601764" y="40593"/>
          <a:ext cx="4913783" cy="749689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Was ist Anweisungsüberdeckung?</a:t>
          </a:r>
          <a:endParaRPr lang="en-US" sz="2000" kern="1200" dirty="0"/>
        </a:p>
      </dsp:txBody>
      <dsp:txXfrm>
        <a:off x="5601764" y="40593"/>
        <a:ext cx="4913783" cy="749689"/>
      </dsp:txXfrm>
    </dsp:sp>
    <dsp:sp modelId="{17CD72D6-B0EF-4B60-8617-AAA3CEF8B390}">
      <dsp:nvSpPr>
        <dsp:cNvPr id="0" name=""/>
        <dsp:cNvSpPr/>
      </dsp:nvSpPr>
      <dsp:spPr>
        <a:xfrm>
          <a:off x="5601764" y="790282"/>
          <a:ext cx="4913783" cy="3520462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rgbClr val="CFD6C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/>
            <a:t>Anweisung</a:t>
          </a:r>
          <a:r>
            <a:rPr lang="en-US" sz="2000" kern="1200" dirty="0"/>
            <a:t>: </a:t>
          </a:r>
          <a:r>
            <a:rPr lang="de-DE" sz="2000" kern="1200" dirty="0"/>
            <a:t> ein einzelner ausführbarer Befehl im Code z.B.: „</a:t>
          </a:r>
          <a:r>
            <a:rPr lang="de-DE" sz="2000" kern="1200" dirty="0" err="1"/>
            <a:t>anzahl</a:t>
          </a:r>
          <a:r>
            <a:rPr lang="de-DE" sz="2000" kern="1200" dirty="0"/>
            <a:t>++;“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/>
            <a:t>jede ausführbare Anweisung wird im Quellcode </a:t>
          </a:r>
          <a:r>
            <a:rPr lang="de-DE" sz="2000" b="1" kern="1200" dirty="0"/>
            <a:t>mindestens einmal </a:t>
          </a:r>
          <a:r>
            <a:rPr lang="de-DE" sz="2000" kern="1200" dirty="0"/>
            <a:t>durchlaufen</a:t>
          </a:r>
          <a:endParaRPr lang="en-US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/>
            <a:t>-&gt; „</a:t>
          </a:r>
          <a:r>
            <a:rPr lang="de-DE" sz="2000" i="1" kern="1200" dirty="0"/>
            <a:t>Wir entwerfen so lange neue Tests, bis alle Anweisungen ausgeführt wurden“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 dirty="0"/>
            <a:t>Gemessene Überdeckung zeigt, wie vollständig unser Test die implementierte Logik abdeckt</a:t>
          </a:r>
          <a:endParaRPr lang="en-US" sz="2000" kern="1200" dirty="0"/>
        </a:p>
      </dsp:txBody>
      <dsp:txXfrm>
        <a:off x="5601764" y="790282"/>
        <a:ext cx="4913783" cy="35204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FF69DA-AE15-4F70-A46F-879599110854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000" kern="1200"/>
            <a:t>if-Abfragen (Ja/Nein)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000" kern="1200"/>
            <a:t>switch/case-Verzweigungen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000" kern="1200"/>
            <a:t>Schleifenbedingungen (while, for)</a:t>
          </a:r>
          <a:endParaRPr lang="en-US" sz="3000" kern="1200"/>
        </a:p>
      </dsp:txBody>
      <dsp:txXfrm rot="-5400000">
        <a:off x="3785616" y="295201"/>
        <a:ext cx="6647092" cy="1532257"/>
      </dsp:txXfrm>
    </dsp:sp>
    <dsp:sp modelId="{071BC081-B9A5-4EFD-83B6-E6DB647A8549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Beim Entscheidungsüberdenken geht es darum, dass Tests so gestaltet werden, dass alle möglichen Entscheidungswege im Programm mindestens einmal durchlaufen werden. z. B.:</a:t>
          </a:r>
          <a:endParaRPr lang="en-US" sz="1700" kern="1200" dirty="0"/>
        </a:p>
      </dsp:txBody>
      <dsp:txXfrm>
        <a:off x="103614" y="103667"/>
        <a:ext cx="3578388" cy="1915324"/>
      </dsp:txXfrm>
    </dsp:sp>
    <dsp:sp modelId="{0A9F71B6-8EB8-4BD0-8775-A3C2F5BC198B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rgbClr val="CFD6CF">
            <a:alpha val="90000"/>
          </a:srgbClr>
        </a:solidFill>
        <a:ln w="19050" cap="flat" cmpd="sng" algn="ctr">
          <a:solidFill>
            <a:srgbClr val="CFD6CF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000" kern="1200"/>
            <a:t>Beispiel: Alter &gt;18 (true/false)</a:t>
          </a:r>
          <a:endParaRPr lang="en-US" sz="3000" kern="1200"/>
        </a:p>
      </dsp:txBody>
      <dsp:txXfrm rot="-5400000">
        <a:off x="3785616" y="2523880"/>
        <a:ext cx="6647092" cy="1532257"/>
      </dsp:txXfrm>
    </dsp:sp>
    <dsp:sp modelId="{F49C3DC0-037B-40CC-B1D9-11A98EC790A9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Jede Entscheidung im Code soll mindestens einmal mit „wahr“ (</a:t>
          </a:r>
          <a:r>
            <a:rPr lang="de-DE" sz="1700" kern="1200" dirty="0" err="1"/>
            <a:t>true</a:t>
          </a:r>
          <a:r>
            <a:rPr lang="de-DE" sz="1700" kern="1200" dirty="0"/>
            <a:t>) und mindestens einmal mit „falsch“ (</a:t>
          </a:r>
          <a:r>
            <a:rPr lang="de-DE" sz="1700" kern="1200" dirty="0" err="1"/>
            <a:t>false</a:t>
          </a:r>
          <a:r>
            <a:rPr lang="de-DE" sz="1700" kern="1200" dirty="0"/>
            <a:t>) durchlaufen werden. Dadurch werden nicht nur alle Anweisungen, sondern auch die verschiedenen Verzweigungswege getestet.</a:t>
          </a:r>
          <a:endParaRPr lang="en-US" sz="1700" kern="1200" dirty="0"/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DF254-947F-4AD7-A565-3BCA81F0C4C9}">
      <dsp:nvSpPr>
        <dsp:cNvPr id="0" name=""/>
        <dsp:cNvSpPr/>
      </dsp:nvSpPr>
      <dsp:spPr>
        <a:xfrm>
          <a:off x="0" y="52585"/>
          <a:ext cx="10515600" cy="20698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/>
            <a:t>Anweisungsüberdecken</a:t>
          </a:r>
          <a:r>
            <a:rPr lang="de-DE" sz="3700" kern="1200"/>
            <a:t>: Jede Zeile/Anweisung wird mindestens einmal ausgeführt.</a:t>
          </a:r>
          <a:endParaRPr lang="en-US" sz="3700" kern="1200"/>
        </a:p>
      </dsp:txBody>
      <dsp:txXfrm>
        <a:off x="101039" y="153624"/>
        <a:ext cx="10313522" cy="1867725"/>
      </dsp:txXfrm>
    </dsp:sp>
    <dsp:sp modelId="{06379356-3FF6-4AB4-AF53-7A2CA08F493C}">
      <dsp:nvSpPr>
        <dsp:cNvPr id="0" name=""/>
        <dsp:cNvSpPr/>
      </dsp:nvSpPr>
      <dsp:spPr>
        <a:xfrm>
          <a:off x="0" y="2228949"/>
          <a:ext cx="10515600" cy="206980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b="1" kern="1200"/>
            <a:t>Entscheidungsüberdenken</a:t>
          </a:r>
          <a:r>
            <a:rPr lang="de-DE" sz="3700" kern="1200"/>
            <a:t>: Jede Entscheidung (Verzweigung) wird mit allen</a:t>
          </a:r>
          <a:br>
            <a:rPr lang="de-DE" sz="3700" kern="1200"/>
          </a:br>
          <a:r>
            <a:rPr lang="de-DE" sz="3700" kern="1200"/>
            <a:t>möglichen Ausgängen (true/false) ausgeführt</a:t>
          </a:r>
          <a:endParaRPr lang="en-US" sz="3700" kern="1200"/>
        </a:p>
      </dsp:txBody>
      <dsp:txXfrm>
        <a:off x="101039" y="2329988"/>
        <a:ext cx="10313522" cy="1867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B4B34-2908-2395-4D2F-F47D05898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9B8E19-689D-17E9-E19B-B84A073EE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3E25A-A37A-FB99-22C3-E86CA8EF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801423-8F6F-6111-FD5F-564AA9A2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8FCC72-0A3D-DC95-B631-324C4231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58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1AA45-A331-9E37-D3EC-456ED2B0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C75270-747A-61BC-F920-EEDB3696C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A712B9-48BB-3324-46D8-773DDBE3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1F47E5-628C-DA70-03E8-FA03834F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3F54EE-B6AA-A4BE-B04A-FB05C2B8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48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163DD-D527-2F8D-795C-3C41D5AB7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8BB1CA-83D5-41A6-81C0-9C2CA93F7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522134-EAB4-E585-1B79-4FB6DEDE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C11032-6CAE-6DDF-01B6-4F98AD691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E2EEEC-0E1A-8E44-EB63-2B334449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782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18BC00-5179-6B76-4BB7-D5132E86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F36F1C-11B2-DD00-6645-3F6106087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88E482-7FBC-103A-FF16-CF42D754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F74204-92DF-852C-1504-FBA45BD3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13AA1D-B98B-1E18-4D88-F41643F9D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E27C65-9574-BCBC-D823-89750B76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60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55C955-78A9-37B3-08D5-0312F8A6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2B080D-CC3C-79D3-0198-224C5A572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5203E5-9D1A-6AAF-5DB2-79208F19B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A518FCC-843C-56D6-B6C9-02889F040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BE2FECD-2AE9-0EDF-24EC-CDE0149A2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B66A9E-1032-04DE-8D82-4AAAE225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117DB7-ABA2-E8D4-E1B8-C4F405E7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8D1A216-AE21-9177-8411-C925299F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377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257B64-EB87-8750-D824-880E8B43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CFACB7-9EE0-E93C-8E0C-10F5C7B3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2F8350-CBBB-5B7D-88D0-7C4683D2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F01848-5083-3120-4C47-EAB3BEEE5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89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A7C9AA-AB29-B9D2-48FD-8B13293B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9FA0B54-A26D-9FAD-08D2-F0EB33FC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5464A6-DCE0-822A-1831-11144393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29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A5189-3D43-98C9-8E62-F2309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8EE35A-0219-4A14-B24B-9A390EF71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EF969DD-2A66-E5EB-6CCF-E34032886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563CE4-19E3-5585-7709-F4FEF582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817A37-CE91-8BCA-A3F6-6380D9C99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E2A81F-BF8C-EBD1-370F-DE91AA59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19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D1218-507D-8436-FB8B-37ED83170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003870C-187E-0B36-2268-7C738E559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9337D0-DC84-052C-2AAB-025AC301A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C5340F-6578-8241-4E77-B631012C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E7C8D-858A-968F-3845-4FF1C03B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C40BC6-CA15-4C5D-EC99-E7B0F608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42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AE5AE8-0AE1-29E1-F804-2C4B5150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48C642-9A87-CB12-17EF-24A6ED0A8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222E92-28EC-8B6E-5FE9-AAA74113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17FD29-CF7A-FC05-6643-928CEF2A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81ABA5-274E-FC11-517C-C8CAB1FA7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704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94FD022-5AEE-0CA7-9695-5BCED53F4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3B6CB8-C4C4-2F7A-86B8-4F557326D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9C23EC-539E-FAB5-B507-3932AB51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82A4FF-E2B1-E1C8-D404-975A5129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84C9F-B857-8E11-7BBD-A4999F75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91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95FCE33-1759-8854-1849-349F10FE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F3A88C-D72E-49CC-020B-C60537C2A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03237E-4A70-F24B-128B-C94167B3B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989AA-1313-43BD-9131-A67EFA3E22E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CA26DD-D378-67D3-B853-10FBC8DC1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1546C-38E5-F1D9-93E1-4922C0A5B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11DC7-0180-40B9-B58D-B1EF2A6887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58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va.usercontent.opencode.de/softwaretest/qs-baukasten/Testentwurfsverfahren.html#Spezifikationsorientiert_Testentwurfsverfahre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va.usercontent.opencode.de/softwaretest/qs-baukasten/Erfahrungsbasiertes-Testen.html" TargetMode="External"/><Relationship Id="rId5" Type="http://schemas.openxmlformats.org/officeDocument/2006/relationships/hyperlink" Target="https://bva.usercontent.opencode.de/softwaretest/qs-baukasten/White-Box-Testverfahren.html" TargetMode="External"/><Relationship Id="rId4" Type="http://schemas.openxmlformats.org/officeDocument/2006/relationships/hyperlink" Target="https://bva.usercontent.opencode.de/softwaretest/qs-baukasten/Black-Box-Testverfahren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0B5F9E-5E5E-FC83-6F48-C7F91B320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de-DE" sz="6600" b="1"/>
              <a:t>Testentwurfsverfahren</a:t>
            </a:r>
            <a:endParaRPr lang="de-DE" sz="66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E78CDE5-989B-2F05-F2D0-458171C13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de-DE" b="1" dirty="0"/>
              <a:t>Anweisungs- und Entscheidungsüberdeckung</a:t>
            </a:r>
            <a:endParaRPr lang="de-DE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9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72AFF0-3158-2376-5E91-BE0EC2E9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de-DE" sz="3100" b="1" dirty="0"/>
              <a:t>Testentwurfsverfahren </a:t>
            </a:r>
            <a:endParaRPr lang="de-DE" sz="31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B12416-C73F-7E1D-67C6-163BC8629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7971" y="564340"/>
            <a:ext cx="9497226" cy="246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12287-4839-B579-7307-3D8CFB20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3628" y="3905833"/>
            <a:ext cx="6270172" cy="2843279"/>
          </a:xfrm>
        </p:spPr>
        <p:txBody>
          <a:bodyPr anchor="ctr">
            <a:normAutofit/>
          </a:bodyPr>
          <a:lstStyle/>
          <a:p>
            <a:pPr fontAlgn="ctr"/>
            <a:r>
              <a:rPr lang="de-DE" sz="1600" dirty="0"/>
              <a:t>Eine systematische Methode bei der man aus Anforderungen/Programmcode konkrete Testfälle ableitet</a:t>
            </a:r>
          </a:p>
          <a:p>
            <a:pPr fontAlgn="ctr"/>
            <a:r>
              <a:rPr lang="de-DE" sz="1600" dirty="0"/>
              <a:t>Von Beschreibung eines Systems -&gt; möglichst vollständigen Testfällen</a:t>
            </a:r>
          </a:p>
          <a:p>
            <a:pPr fontAlgn="ctr"/>
            <a:r>
              <a:rPr lang="de-DE" sz="1600" dirty="0"/>
              <a:t>Unterschieden werden die folgenden Testentwurfsverfahren:</a:t>
            </a:r>
          </a:p>
          <a:p>
            <a:pPr lvl="1" fontAlgn="ctr"/>
            <a:r>
              <a:rPr lang="de-DE" sz="16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Spezifikationsorientiert</a:t>
            </a:r>
            <a:r>
              <a:rPr lang="de-DE" sz="1600" dirty="0"/>
              <a:t> (</a:t>
            </a:r>
            <a:r>
              <a:rPr lang="de-DE" sz="1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Black-Box</a:t>
            </a:r>
            <a:r>
              <a:rPr lang="de-DE" sz="1600" dirty="0"/>
              <a:t>, Testobjekt „undurchsichtig“)</a:t>
            </a:r>
          </a:p>
          <a:p>
            <a:pPr lvl="1" fontAlgn="ctr"/>
            <a:r>
              <a:rPr lang="de-DE" sz="1600" dirty="0"/>
              <a:t>Strukturorientiert (</a:t>
            </a:r>
            <a:r>
              <a:rPr lang="de-DE" sz="16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White-Box</a:t>
            </a:r>
            <a:r>
              <a:rPr lang="de-DE" sz="1600" dirty="0"/>
              <a:t>, Testobjekt „durchsichtig“)</a:t>
            </a:r>
          </a:p>
          <a:p>
            <a:pPr lvl="1" fontAlgn="ctr"/>
            <a:r>
              <a:rPr lang="de-DE" sz="1600" b="1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Erfahrungsbasiert</a:t>
            </a:r>
            <a:r>
              <a:rPr lang="de-DE" sz="1600" dirty="0"/>
              <a:t> (Wissen und Erfahrungen von Menschen nutzen</a:t>
            </a:r>
          </a:p>
        </p:txBody>
      </p:sp>
    </p:spTree>
    <p:extLst>
      <p:ext uri="{BB962C8B-B14F-4D97-AF65-F5344CB8AC3E}">
        <p14:creationId xmlns:p14="http://schemas.microsoft.com/office/powerpoint/2010/main" val="166850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68180-A6AD-597E-2CE7-970F8994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DC930E-1251-D77B-10FA-4A619976D7D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56" b="31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A28893-CE74-8016-6810-DC7A625A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b="1" dirty="0"/>
              <a:t>Anweisungsüberdeckung </a:t>
            </a:r>
            <a:endParaRPr lang="de-DE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3E4F8FE9-1AF0-0448-DB5B-CD163E059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4001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977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65304-60EC-D533-E81F-D68F0106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EF1775-19DC-072F-41F2-FD98B0D24B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AE03B5-3C91-E83E-7563-69502631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b="1" dirty="0"/>
              <a:t>Entscheidungsüberdeckung </a:t>
            </a:r>
            <a:endParaRPr lang="de-DE" dirty="0"/>
          </a:p>
        </p:txBody>
      </p:sp>
      <p:graphicFrame>
        <p:nvGraphicFramePr>
          <p:cNvPr id="7" name="Inhaltsplatzhalter 2">
            <a:extLst>
              <a:ext uri="{FF2B5EF4-FFF2-40B4-BE49-F238E27FC236}">
                <a16:creationId xmlns:a16="http://schemas.microsoft.com/office/drawing/2014/main" id="{A6EB6DA6-8BB0-A30F-F42E-6A74C089F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7345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5531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2342A-B0C7-4912-CC84-61FA0A77B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609DF7-4B07-79A2-89E8-C56F8C19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93B04E-3A36-42E8-01CC-9763DD4D7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b="1" dirty="0"/>
              <a:t>Zusammenfassung </a:t>
            </a:r>
            <a:endParaRPr lang="de-DE" dirty="0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DAE8773-F844-CE66-7892-822C3C9D44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2452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121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Breitbild</PresentationFormat>
  <Paragraphs>30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</vt:lpstr>
      <vt:lpstr>Testentwurfsverfahren</vt:lpstr>
      <vt:lpstr>Testentwurfsverfahren </vt:lpstr>
      <vt:lpstr>Anweisungsüberdeckung </vt:lpstr>
      <vt:lpstr>Entscheidungsüberdeckung </vt:lpstr>
      <vt:lpstr>Zusammenfassung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Baginski, Mattheo</dc:creator>
  <cp:lastModifiedBy>Baginski, Mattheo</cp:lastModifiedBy>
  <cp:revision>3</cp:revision>
  <dcterms:created xsi:type="dcterms:W3CDTF">2026-04-09T10:59:02Z</dcterms:created>
  <dcterms:modified xsi:type="dcterms:W3CDTF">2026-04-09T12:01:37Z</dcterms:modified>
</cp:coreProperties>
</file>